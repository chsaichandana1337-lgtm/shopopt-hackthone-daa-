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3T08:38:39.968"/>
    </inkml:context>
    <inkml:brush xml:id="br0">
      <inkml:brushProperty name="width" value="0.5" units="cm"/>
      <inkml:brushProperty name="height" value="1" units="cm"/>
      <inkml:brushProperty name="color" value="#190A52"/>
      <inkml:brushProperty name="tip" value="rectangle"/>
      <inkml:brushProperty name="rasterOp" value="maskPen"/>
      <inkml:brushProperty name="ignorePressure" value="1"/>
    </inkml:brush>
  </inkml:definitions>
  <inkml:trace contextRef="#ctx0" brushRef="#br0">6829 38,'-119'-1,"-137"3,213 3,-1 3,2 1,-1 2,-49 21,37-14,-168 54,-292 54,137-73,366-53,0 1,0-1,0-1,0 0,-20-5,26 4,0 0,0 0,0-1,0 0,0 0,1 0,0 0,-1-1,1 0,1 0,-1-1,-6-6,-7-9,-1 0,-1 2,0 0,-2 1,0 1,0 1,-2 2,-26-13,-32-9,-96-27,88 32,66 23,-1 1,1 1,-1 1,0 2,0 0,-1 1,-25 4,-176 30,168-22,-68 10,-1-5,-184 0,-359-18,633 5,0 0,-61 15,37-5,-205 41,99-18,-215 20,336-53,-2-1,0 3,-61 13,65-7,-85 9,103-19,1 0,-1-2,1 0,-44-10,25 4,-61-3,55 6,29 1,-28-7,-16-3,-29-1,-13-2,15 0,66 10,-52-5,-23 10,73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010A0-CC6B-4149-A0ED-D7D879492B62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ACADC-A2DB-4D93-9B64-D82EB7ADC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98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ACADC-A2DB-4D93-9B64-D82EB7ADC04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72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18160" y="891106"/>
            <a:ext cx="11155680" cy="5852160"/>
          </a:xfrm>
          <a:prstGeom prst="roundRect">
            <a:avLst/>
          </a:prstGeom>
          <a:solidFill>
            <a:srgbClr val="171A3A"/>
          </a:solidFill>
          <a:ln w="12700">
            <a:solidFill>
              <a:srgbClr val="17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4846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ShopOpt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E9E8FF"/>
                </a:solidFill>
                <a:latin typeface="Aptos"/>
              </a:defRPr>
            </a:pPr>
            <a:r>
              <a:t>Online Shopping Product 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320" y="2630859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9AFD6"/>
                </a:solidFill>
                <a:latin typeface="Aptos"/>
              </a:defRPr>
            </a:pPr>
            <a:r>
              <a:t>Problem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320" y="297180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E-commerce • Budget-aware product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7C9E8"/>
                </a:solidFill>
                <a:latin typeface="Aptos"/>
              </a:defRPr>
            </a:pPr>
            <a:r>
              <a:t>Team members: Add team names</a:t>
            </a:r>
          </a:p>
        </p:txBody>
      </p:sp>
      <p:pic>
        <p:nvPicPr>
          <p:cNvPr id="17" name="Picture 16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325880"/>
            <a:ext cx="4617720" cy="5166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02188" y="6164363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B9B7FF"/>
                </a:solidFill>
                <a:latin typeface="Aptos"/>
              </a:defRPr>
            </a:pPr>
            <a:r>
              <a:t>LIVE PROTOTYPE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F8FFB8-3503-84F7-93D0-ED1753985E92}"/>
              </a:ext>
            </a:extLst>
          </p:cNvPr>
          <p:cNvSpPr txBox="1"/>
          <p:nvPr/>
        </p:nvSpPr>
        <p:spPr>
          <a:xfrm>
            <a:off x="868679" y="3376749"/>
            <a:ext cx="537972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bg1"/>
                </a:solidFill>
              </a:rPr>
              <a:t>Team Members:</a:t>
            </a:r>
          </a:p>
          <a:p>
            <a:r>
              <a:rPr lang="en-US" sz="2400" b="1" i="1" dirty="0">
                <a:solidFill>
                  <a:schemeClr val="bg1"/>
                </a:solidFill>
              </a:rPr>
              <a:t>1.ch. </a:t>
            </a:r>
            <a:r>
              <a:rPr lang="en-US" sz="2400" b="1" i="1" dirty="0" err="1">
                <a:solidFill>
                  <a:schemeClr val="bg1"/>
                </a:solidFill>
              </a:rPr>
              <a:t>sai</a:t>
            </a:r>
            <a:r>
              <a:rPr lang="en-US" sz="2400" b="1" i="1" dirty="0">
                <a:solidFill>
                  <a:schemeClr val="bg1"/>
                </a:solidFill>
              </a:rPr>
              <a:t>  Chandana-(28)</a:t>
            </a:r>
          </a:p>
          <a:p>
            <a:r>
              <a:rPr lang="en-US" sz="2400" b="1" i="1" dirty="0">
                <a:solidFill>
                  <a:schemeClr val="bg1"/>
                </a:solidFill>
              </a:rPr>
              <a:t>2.v.vyshnavi-(90)</a:t>
            </a:r>
          </a:p>
          <a:p>
            <a:r>
              <a:rPr lang="en-US" sz="2400" b="1" i="1" dirty="0">
                <a:solidFill>
                  <a:schemeClr val="bg1"/>
                </a:solidFill>
              </a:rPr>
              <a:t>3.d.mokshitha-(30)</a:t>
            </a:r>
          </a:p>
          <a:p>
            <a:r>
              <a:rPr lang="en-US" sz="2400" b="1" i="1" dirty="0">
                <a:solidFill>
                  <a:schemeClr val="bg1"/>
                </a:solidFill>
              </a:rPr>
              <a:t>4.u.srija-(86)</a:t>
            </a:r>
          </a:p>
          <a:p>
            <a:r>
              <a:rPr lang="en-US" dirty="0"/>
              <a:t>2.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C3266E3-0697-8FB2-868A-94C432802FD5}"/>
                  </a:ext>
                </a:extLst>
              </p14:cNvPr>
              <p14:cNvContentPartPr/>
              <p14:nvPr/>
            </p14:nvContentPartPr>
            <p14:xfrm>
              <a:off x="970577" y="5451000"/>
              <a:ext cx="2458800" cy="1346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C3266E3-0697-8FB2-868A-94C432802F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0577" y="5271000"/>
                <a:ext cx="2638440" cy="49428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7A2F9EA7-0A65-17FA-0883-02FB9DEA8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09441"/>
            <a:ext cx="12192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71A3A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49808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B7090"/>
                </a:solidFill>
                <a:latin typeface="Aptos"/>
              </a:defRPr>
            </a:pPr>
            <a:r>
              <a:t>Why smarter shopping needs more than a product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3F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4800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71A3A"/>
                </a:solidFill>
                <a:latin typeface="Aptos"/>
              </a:defRPr>
            </a:pPr>
            <a:r>
              <a:t>The real-world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9776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71A3A"/>
                </a:solidFill>
                <a:latin typeface="Aptos"/>
              </a:defRPr>
            </a:pPr>
            <a:r>
              <a:t>• Too many products make comparison difficult.</a:t>
            </a:r>
          </a:p>
          <a:p>
            <a:pPr>
              <a:spcAft>
                <a:spcPts val="700"/>
              </a:spcAft>
              <a:defRPr sz="1600">
                <a:solidFill>
                  <a:srgbClr val="171A3A"/>
                </a:solidFill>
                <a:latin typeface="Aptos"/>
              </a:defRPr>
            </a:pPr>
            <a:r>
              <a:t>• A fixed budget can conflict with rating, utility and discounts.</a:t>
            </a:r>
          </a:p>
          <a:p>
            <a:pPr>
              <a:spcAft>
                <a:spcPts val="700"/>
              </a:spcAft>
              <a:defRPr sz="1600">
                <a:solidFill>
                  <a:srgbClr val="171A3A"/>
                </a:solidFill>
                <a:latin typeface="Aptos"/>
              </a:defRPr>
            </a:pPr>
            <a:r>
              <a:t>• Users need a basket, not just a ranked list.</a:t>
            </a:r>
          </a:p>
          <a:p>
            <a:pPr>
              <a:spcAft>
                <a:spcPts val="700"/>
              </a:spcAft>
              <a:defRPr sz="1600">
                <a:solidFill>
                  <a:srgbClr val="171A3A"/>
                </a:solidFill>
                <a:latin typeface="Aptos"/>
              </a:defRPr>
            </a:pPr>
            <a:r>
              <a:t>• Manual trial-and-error becomes slow as choices grow.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63440"/>
            <a:ext cx="4160520" cy="82296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D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82803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F37C9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709160"/>
            <a:ext cx="2697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71A3A"/>
                </a:solidFill>
                <a:latin typeface="Aptos"/>
              </a:defRPr>
            </a:pPr>
            <a:r>
              <a:t>“What combination gives the best value without breaking the budget?”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17320"/>
            <a:ext cx="54406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" y="1"/>
            <a:ext cx="0" cy="0"/>
          </a:xfrm>
          <a:prstGeom prst="rect">
            <a:avLst/>
          </a:prstGeom>
          <a:solidFill>
            <a:srgbClr val="3F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53328" y="1527048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3F37C9"/>
                </a:solidFill>
                <a:latin typeface="Aptos"/>
              </a:defRPr>
            </a:pPr>
            <a:r>
              <a:t>CHOICE OVERLOAD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1801368"/>
            <a:ext cx="4800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B7090"/>
                </a:solidFill>
                <a:latin typeface="Aptos"/>
              </a:defRPr>
            </a:pPr>
            <a:r>
              <a:t>32 demo products across 6 sections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532888"/>
            <a:ext cx="54406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" y="2"/>
            <a:ext cx="0" cy="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53328" y="2642616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Aptos"/>
              </a:defRPr>
            </a:pPr>
            <a:r>
              <a:t>BUDGET CONSTRAINT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2916936"/>
            <a:ext cx="4800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B7090"/>
                </a:solidFill>
                <a:latin typeface="Aptos"/>
              </a:defRPr>
            </a:pPr>
            <a:r>
              <a:t>Every item consumes part of the basket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3648456"/>
            <a:ext cx="54406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" y="3"/>
            <a:ext cx="0" cy="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53328" y="3758184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B2CBF"/>
                </a:solidFill>
                <a:latin typeface="Aptos"/>
              </a:defRPr>
            </a:pPr>
            <a:r>
              <a:t>MULTI-CRITERIA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4032504"/>
            <a:ext cx="4800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B7090"/>
                </a:solidFill>
                <a:latin typeface="Aptos"/>
              </a:defRPr>
            </a:pPr>
            <a:r>
              <a:t>Utility • rating • discount • combined 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764024"/>
            <a:ext cx="54406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" y="5"/>
            <a:ext cx="0" cy="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53328" y="4873752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Aptos"/>
              </a:defRPr>
            </a:pPr>
            <a:r>
              <a:t>ALGORITHM TRANSPARENCY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5148072"/>
            <a:ext cx="4800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B7090"/>
                </a:solidFill>
                <a:latin typeface="Aptos"/>
              </a:defRPr>
            </a:pPr>
            <a:r>
              <a:t>Show the steps instead of hiding the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090"/>
                </a:solidFill>
                <a:latin typeface="Aptos"/>
              </a:defRPr>
            </a:pPr>
            <a:r>
              <a:t>ShopOpt • Hackathon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71A3A"/>
                </a:solidFill>
                <a:latin typeface="Aptos"/>
              </a:defRPr>
            </a:pPr>
            <a:r>
              <a:t>Our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49808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B7090"/>
                </a:solidFill>
                <a:latin typeface="Aptos"/>
              </a:defRPr>
            </a:pPr>
            <a:r>
              <a:t>Turn a shopping decision into an interactive algorithm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3F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0" cy="4983480"/>
          </a:xfrm>
          <a:prstGeom prst="roundRect">
            <a:avLst/>
          </a:prstGeom>
          <a:solidFill>
            <a:srgbClr val="171A3A"/>
          </a:solidFill>
          <a:ln w="12700">
            <a:solidFill>
              <a:srgbClr val="17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9B7FF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886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Optimize the whole basket — not one product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7490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C7C9E8"/>
                </a:solidFill>
                <a:latin typeface="Aptos"/>
              </a:defRPr>
            </a:pPr>
            <a:r>
              <a:t>The prototype explicitly implements the algorithms so users can watch the decision process.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1600200" cy="384048"/>
          </a:xfrm>
          <a:prstGeom prst="roundRect">
            <a:avLst/>
          </a:prstGeom>
          <a:solidFill>
            <a:srgbClr val="3F37C9"/>
          </a:solidFill>
          <a:ln w="12700">
            <a:solidFill>
              <a:srgbClr val="3F3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4590288"/>
            <a:ext cx="1490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0/1 Knapsack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572000"/>
            <a:ext cx="1600200" cy="384048"/>
          </a:xfrm>
          <a:prstGeom prst="roundRect">
            <a:avLst/>
          </a:prstGeom>
          <a:solidFill>
            <a:srgbClr val="7B2CBF"/>
          </a:solidFill>
          <a:ln w="1270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8064" y="4590288"/>
            <a:ext cx="1490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Sorting 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38928"/>
            <a:ext cx="1600200" cy="384048"/>
          </a:xfrm>
          <a:prstGeom prst="roundRect">
            <a:avLst/>
          </a:prstGeom>
          <a:solidFill>
            <a:srgbClr val="10A37F"/>
          </a:solidFill>
          <a:ln w="1270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5157216"/>
            <a:ext cx="1490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Binary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5138928"/>
            <a:ext cx="1600200" cy="384048"/>
          </a:xfrm>
          <a:prstGeom prst="roundRect">
            <a:avLst/>
          </a:prstGeom>
          <a:solidFill>
            <a:srgbClr val="2D9CDB"/>
          </a:solidFill>
          <a:ln w="12700"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98064" y="5157216"/>
            <a:ext cx="1490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Analytics</a:t>
            </a:r>
          </a:p>
        </p:txBody>
      </p:sp>
      <p:pic>
        <p:nvPicPr>
          <p:cNvPr id="19" name="Picture 18" descr="optim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5715000" cy="40690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486400" y="5596128"/>
            <a:ext cx="57150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5742432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F37C9"/>
                </a:solidFill>
                <a:latin typeface="Aptos"/>
              </a:defRPr>
            </a:pPr>
            <a:r>
              <a:t>Unique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5669280"/>
            <a:ext cx="3886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71A3A"/>
                </a:solidFill>
                <a:latin typeface="Aptos"/>
              </a:defRPr>
            </a:pPr>
            <a:r>
              <a:t>Same product catalogue → multiple algorithms → visible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090"/>
                </a:solidFill>
                <a:latin typeface="Aptos"/>
              </a:defRPr>
            </a:pPr>
            <a:r>
              <a:t>ShopOpt • Hackathon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71A3A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49808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B7090"/>
                </a:solidFill>
                <a:latin typeface="Aptos"/>
              </a:defRPr>
            </a:pPr>
            <a:r>
              <a:t>Simple user journey from budget to an optimized basket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3F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1709928"/>
            <a:ext cx="438912" cy="438912"/>
          </a:xfrm>
          <a:prstGeom prst="ellipse">
            <a:avLst/>
          </a:prstGeom>
          <a:solidFill>
            <a:srgbClr val="3F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28216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7335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3F37C9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1508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71A3A"/>
                </a:solidFill>
                <a:latin typeface="Aptos"/>
              </a:defRPr>
            </a:pPr>
            <a:r>
              <a:t>Budget + products +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9202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6B709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0876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93592" y="1709928"/>
            <a:ext cx="438912" cy="438912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1728216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67335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B2CBF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011680"/>
            <a:ext cx="1508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71A3A"/>
                </a:solidFill>
                <a:latin typeface="Aptos"/>
              </a:defRPr>
            </a:pPr>
            <a:r>
              <a:t>Normalize utility / rating / discount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9202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6B709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0876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82512" y="1709928"/>
            <a:ext cx="438912" cy="438912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1728216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67335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011680"/>
            <a:ext cx="1508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71A3A"/>
                </a:solidFill>
                <a:latin typeface="Aptos"/>
              </a:defRPr>
            </a:pPr>
            <a:r>
              <a:t>Run 0/1 Knapsack DP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9202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6B709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39" y="150876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71431" y="1709928"/>
            <a:ext cx="438912" cy="438912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71431" y="1728216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59" y="167335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D9CD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59" y="2011680"/>
            <a:ext cx="1508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71A3A"/>
                </a:solidFill>
                <a:latin typeface="Aptos"/>
              </a:defRPr>
            </a:pPr>
            <a:r>
              <a:t>Best basket + spend + savings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3832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71A3A"/>
                </a:solidFill>
                <a:latin typeface="Aptos"/>
              </a:defRPr>
            </a:pPr>
            <a:r>
              <a:t>User journey</a:t>
            </a:r>
          </a:p>
        </p:txBody>
      </p:sp>
      <p:pic>
        <p:nvPicPr>
          <p:cNvPr id="31" name="Picture 30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794760"/>
            <a:ext cx="3657600" cy="2240280"/>
          </a:xfrm>
          <a:prstGeom prst="rect">
            <a:avLst/>
          </a:prstGeom>
        </p:spPr>
      </p:pic>
      <p:pic>
        <p:nvPicPr>
          <p:cNvPr id="32" name="Picture 31" descr="optimi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3794760"/>
            <a:ext cx="3657600" cy="2240280"/>
          </a:xfrm>
          <a:prstGeom prst="rect">
            <a:avLst/>
          </a:prstGeom>
        </p:spPr>
      </p:pic>
      <p:pic>
        <p:nvPicPr>
          <p:cNvPr id="33" name="Picture 32" descr="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794760"/>
            <a:ext cx="3291840" cy="22402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8368" y="6099048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F37C9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3984" y="6099048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F37C9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6099048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F37C9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090"/>
                </a:solidFill>
                <a:latin typeface="Aptos"/>
              </a:defRPr>
            </a:pPr>
            <a:r>
              <a:t>ShopOpt • Hackathon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71A3A"/>
                </a:solidFill>
                <a:latin typeface="Aptos"/>
              </a:defRPr>
            </a:pPr>
            <a:r>
              <a:t>Technology &amp;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49808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B7090"/>
                </a:solidFill>
                <a:latin typeface="Aptos"/>
              </a:defRPr>
            </a:pPr>
            <a:r>
              <a:t>A lightweight web stack with explicit algorithm implementations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3F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7432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2763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71A3A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4884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3F37C9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48840"/>
            <a:ext cx="1325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090"/>
                </a:solidFill>
                <a:latin typeface="Aptos"/>
              </a:defRPr>
            </a:pPr>
            <a:r>
              <a:t>UI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52344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B2CBF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752344"/>
            <a:ext cx="1325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090"/>
                </a:solidFill>
                <a:latin typeface="Aptos"/>
              </a:defRPr>
            </a:pPr>
            <a:r>
              <a:t>Glass cards + responsive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55848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55848"/>
            <a:ext cx="1325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090"/>
                </a:solidFill>
                <a:latin typeface="Aptos"/>
              </a:defRPr>
            </a:pPr>
            <a:r>
              <a:t>UI + algorithm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95935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D9CDB"/>
                </a:solidFill>
                <a:latin typeface="Aptos"/>
              </a:defRPr>
            </a:pPr>
            <a:r>
              <a:t>SVG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959352"/>
            <a:ext cx="1325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090"/>
                </a:solidFill>
                <a:latin typeface="Aptos"/>
              </a:defRPr>
            </a:pPr>
            <a:r>
              <a:t>Product illustrations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56285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Aptos"/>
              </a:defRPr>
            </a:pPr>
            <a:r>
              <a:t>Web Speech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562856"/>
            <a:ext cx="1325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090"/>
                </a:solidFill>
                <a:latin typeface="Aptos"/>
              </a:defRPr>
            </a:pPr>
            <a:r>
              <a:t>Voice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16636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E5484D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166360"/>
            <a:ext cx="1325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090"/>
                </a:solidFill>
                <a:latin typeface="Aptos"/>
              </a:defRPr>
            </a:pPr>
            <a:r>
              <a:t>Optional backend at localhost:5000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1325880"/>
            <a:ext cx="79095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86200" y="162763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71A3A"/>
                </a:solidFill>
                <a:latin typeface="Aptos"/>
              </a:defRPr>
            </a:pPr>
            <a:r>
              <a:t>Main algorithms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2148840"/>
            <a:ext cx="2331720" cy="411480"/>
          </a:xfrm>
          <a:prstGeom prst="roundRect">
            <a:avLst/>
          </a:prstGeom>
          <a:solidFill>
            <a:srgbClr val="171A3A"/>
          </a:solidFill>
          <a:ln w="12700">
            <a:solidFill>
              <a:srgbClr val="17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13632" y="2221992"/>
            <a:ext cx="218541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2148840"/>
            <a:ext cx="1143000" cy="411480"/>
          </a:xfrm>
          <a:prstGeom prst="roundRect">
            <a:avLst/>
          </a:prstGeom>
          <a:solidFill>
            <a:srgbClr val="171A3A"/>
          </a:solidFill>
          <a:ln w="12700">
            <a:solidFill>
              <a:srgbClr val="17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2221992"/>
            <a:ext cx="9966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148840"/>
            <a:ext cx="1143000" cy="411480"/>
          </a:xfrm>
          <a:prstGeom prst="roundRect">
            <a:avLst/>
          </a:prstGeom>
          <a:solidFill>
            <a:srgbClr val="171A3A"/>
          </a:solidFill>
          <a:ln w="12700">
            <a:solidFill>
              <a:srgbClr val="17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88352" y="2221992"/>
            <a:ext cx="9966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Space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070080" y="2148840"/>
            <a:ext cx="2743200" cy="411480"/>
          </a:xfrm>
          <a:prstGeom prst="roundRect">
            <a:avLst/>
          </a:prstGeom>
          <a:solidFill>
            <a:srgbClr val="171A3A"/>
          </a:solidFill>
          <a:ln w="12700">
            <a:solidFill>
              <a:srgbClr val="17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31352" y="2221992"/>
            <a:ext cx="2596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2633472"/>
            <a:ext cx="233172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13632" y="2706624"/>
            <a:ext cx="218541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71A3A"/>
                </a:solidFill>
                <a:latin typeface="Aptos"/>
              </a:defRPr>
            </a:pPr>
            <a:r>
              <a:t>0/1 Knapsack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2633472"/>
            <a:ext cx="11430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45352" y="2706624"/>
            <a:ext cx="996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F37C9"/>
                </a:solidFill>
                <a:latin typeface="Aptos"/>
              </a:defRPr>
            </a:pPr>
            <a:r>
              <a:t>O(nW)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2633472"/>
            <a:ext cx="11430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88352" y="2706624"/>
            <a:ext cx="996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F37C9"/>
                </a:solidFill>
                <a:latin typeface="Aptos"/>
              </a:defRPr>
            </a:pPr>
            <a:r>
              <a:t>O(nW)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58200" y="2633472"/>
            <a:ext cx="27432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31352" y="2706624"/>
            <a:ext cx="2596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090"/>
                </a:solidFill>
                <a:latin typeface="Aptos"/>
              </a:defRPr>
            </a:pPr>
            <a:r>
              <a:t>Budget-constrained basket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0" y="3346704"/>
            <a:ext cx="233172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13632" y="3419856"/>
            <a:ext cx="218541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71A3A"/>
                </a:solidFill>
                <a:latin typeface="Aptos"/>
              </a:defRPr>
            </a:pPr>
            <a:r>
              <a:t>Binary Search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346704"/>
            <a:ext cx="11430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45352" y="3419856"/>
            <a:ext cx="996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F37C9"/>
                </a:solidFill>
                <a:latin typeface="Aptos"/>
              </a:defRPr>
            </a:pPr>
            <a:r>
              <a:t>O(log n)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3346704"/>
            <a:ext cx="11430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88352" y="3419856"/>
            <a:ext cx="996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F37C9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58200" y="3346704"/>
            <a:ext cx="27432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31352" y="3419856"/>
            <a:ext cx="2596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090"/>
                </a:solidFill>
                <a:latin typeface="Aptos"/>
              </a:defRPr>
            </a:pPr>
            <a:r>
              <a:t>Fast lookup in sorted prices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0" y="4059935"/>
            <a:ext cx="233172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13632" y="4133087"/>
            <a:ext cx="218541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71A3A"/>
                </a:solidFill>
                <a:latin typeface="Aptos"/>
              </a:defRPr>
            </a:pPr>
            <a:r>
              <a:t>Merge Sort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4059935"/>
            <a:ext cx="11430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45352" y="4133087"/>
            <a:ext cx="996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F37C9"/>
                </a:solidFill>
                <a:latin typeface="Aptos"/>
              </a:defRPr>
            </a:pPr>
            <a:r>
              <a:t>O(n log n)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4059935"/>
            <a:ext cx="11430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88352" y="4133087"/>
            <a:ext cx="996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F37C9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58200" y="4059935"/>
            <a:ext cx="27432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31352" y="4133087"/>
            <a:ext cx="2596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090"/>
                </a:solidFill>
                <a:latin typeface="Aptos"/>
              </a:defRPr>
            </a:pPr>
            <a:r>
              <a:t>Efficient ordering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40480" y="4773168"/>
            <a:ext cx="233172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13632" y="4846320"/>
            <a:ext cx="218541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71A3A"/>
                </a:solidFill>
                <a:latin typeface="Aptos"/>
              </a:defRPr>
            </a:pPr>
            <a:r>
              <a:t>Bubble / Selection / Insertion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72200" y="4773168"/>
            <a:ext cx="11430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45352" y="4846320"/>
            <a:ext cx="996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F37C9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4773168"/>
            <a:ext cx="11430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88352" y="4846320"/>
            <a:ext cx="996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F37C9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58200" y="4773168"/>
            <a:ext cx="2743200" cy="566928"/>
          </a:xfrm>
          <a:prstGeom prst="roundRect">
            <a:avLst/>
          </a:prstGeom>
          <a:solidFill>
            <a:srgbClr val="F9FAFD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31352" y="4846320"/>
            <a:ext cx="2596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090"/>
                </a:solidFill>
                <a:latin typeface="Aptos"/>
              </a:defRPr>
            </a:pPr>
            <a:r>
              <a:t>Educational comparison</a:t>
            </a:r>
          </a:p>
        </p:txBody>
      </p:sp>
      <p:pic>
        <p:nvPicPr>
          <p:cNvPr id="63" name="Picture 62" descr="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4983480"/>
            <a:ext cx="7360920" cy="105156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090"/>
                </a:solidFill>
                <a:latin typeface="Aptos"/>
              </a:defRPr>
            </a:pPr>
            <a:r>
              <a:t>ShopOpt • Hackathon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71A3A"/>
                </a:solidFill>
                <a:latin typeface="Aptos"/>
              </a:defRPr>
            </a:pPr>
            <a:r>
              <a:t>Demo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49808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B7090"/>
                </a:solidFill>
                <a:latin typeface="Aptos"/>
              </a:defRPr>
            </a:pPr>
            <a:r>
              <a:t>What the prototype produces with the built-in demo catalogue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3F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760720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325880"/>
            <a:ext cx="4983480" cy="2011680"/>
          </a:xfrm>
          <a:prstGeom prst="roundRect">
            <a:avLst/>
          </a:prstGeom>
          <a:solidFill>
            <a:srgbClr val="171A3A"/>
          </a:solidFill>
          <a:ln w="12700">
            <a:solidFill>
              <a:srgbClr val="17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76288" y="1572768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B9B7FF"/>
                </a:solidFill>
                <a:latin typeface="Aptos"/>
              </a:defRPr>
            </a:pPr>
            <a:r>
              <a:t>Sample result • Utility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993392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₹9,900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44144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7C9E8"/>
                </a:solidFill>
                <a:latin typeface="Aptos"/>
              </a:defRPr>
            </a:pPr>
            <a:r>
              <a:t>basket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993392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7EE0C4"/>
                </a:solidFill>
                <a:latin typeface="Aptos"/>
              </a:defRPr>
            </a:pPr>
            <a:r>
              <a:t>1,173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44144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7C9E8"/>
                </a:solidFill>
                <a:latin typeface="Aptos"/>
              </a:defRPr>
            </a:pPr>
            <a:r>
              <a:t>utility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834640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₹2,082 estimated discount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611880"/>
            <a:ext cx="226771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3721608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F37C9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069080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B7090"/>
                </a:solidFill>
                <a:latin typeface="Aptos"/>
              </a:defRPr>
            </a:pPr>
            <a:r>
              <a:t>products in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611880"/>
            <a:ext cx="226771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3721608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7B2CB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069080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B7090"/>
                </a:solidFill>
                <a:latin typeface="Aptos"/>
              </a:defRPr>
            </a:pPr>
            <a:r>
              <a:t>items selected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617720"/>
            <a:ext cx="226771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4727448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0A37F"/>
                </a:solidFill>
                <a:latin typeface="Aptos"/>
              </a:defRPr>
            </a:pPr>
            <a:r>
              <a:t>3,333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074920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B7090"/>
                </a:solidFill>
                <a:latin typeface="Aptos"/>
              </a:defRPr>
            </a:pPr>
            <a:r>
              <a:t>DP states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617720"/>
            <a:ext cx="226771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20" y="4727448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D9CD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074920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B7090"/>
                </a:solidFill>
                <a:latin typeface="Aptos"/>
              </a:defRPr>
            </a:pPr>
            <a:r>
              <a:t>catalogue sections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21208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394960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F37C9"/>
                </a:solidFill>
                <a:latin typeface="Aptos"/>
              </a:defRPr>
            </a:pPr>
            <a:r>
              <a:t>Practical benefits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330952"/>
            <a:ext cx="8686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71A3A"/>
                </a:solidFill>
                <a:latin typeface="Aptos"/>
              </a:defRPr>
            </a:pPr>
            <a:r>
              <a:t>Budget-aware decisions  •  Explainable algorithms  •  Interactive learning  •  Faster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090"/>
                </a:solidFill>
                <a:latin typeface="Aptos"/>
              </a:defRPr>
            </a:pPr>
            <a:r>
              <a:t>ShopOpt • Hackathon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1155680" cy="5806440"/>
          </a:xfrm>
          <a:prstGeom prst="roundRect">
            <a:avLst/>
          </a:prstGeom>
          <a:solidFill>
            <a:srgbClr val="171A3A"/>
          </a:solidFill>
          <a:ln w="12700">
            <a:solidFill>
              <a:srgbClr val="17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713232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Future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53312"/>
            <a:ext cx="8595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C7C9E8"/>
                </a:solidFill>
                <a:latin typeface="Aptos"/>
              </a:defRPr>
            </a:pPr>
            <a:r>
              <a:t>From a hackathon prototype to a scalable shopping decision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3246120" cy="2377440"/>
          </a:xfrm>
          <a:prstGeom prst="roundRect">
            <a:avLst/>
          </a:prstGeom>
          <a:solidFill>
            <a:srgbClr val="25294C"/>
          </a:solidFill>
          <a:ln w="12700">
            <a:solidFill>
              <a:srgbClr val="3B3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9572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F37C9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Working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10128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C7C9E8"/>
                </a:solidFill>
                <a:latin typeface="Aptos"/>
              </a:defRPr>
            </a:pPr>
            <a:r>
              <a:t>Dashboard, catalogue, optimizer, sorting, binary search and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246120" cy="2377440"/>
          </a:xfrm>
          <a:prstGeom prst="roundRect">
            <a:avLst/>
          </a:prstGeom>
          <a:solidFill>
            <a:srgbClr val="25294C"/>
          </a:solidFill>
          <a:ln w="12700">
            <a:solidFill>
              <a:srgbClr val="3B3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39572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B2CBF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Smarter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10128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C7C9E8"/>
                </a:solidFill>
                <a:latin typeface="Aptos"/>
              </a:defRPr>
            </a:pPr>
            <a:r>
              <a:t>Live marketplace data, richer preference models, price history and personalized weights.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48840"/>
            <a:ext cx="3246120" cy="2377440"/>
          </a:xfrm>
          <a:prstGeom prst="roundRect">
            <a:avLst/>
          </a:prstGeom>
          <a:solidFill>
            <a:srgbClr val="25294C"/>
          </a:solidFill>
          <a:ln w="12700">
            <a:solidFill>
              <a:srgbClr val="3B3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39572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0A37F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889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Production-ready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310128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C7C9E8"/>
                </a:solidFill>
                <a:latin typeface="Aptos"/>
              </a:defRPr>
            </a:pPr>
            <a:r>
              <a:t>API-backed catalogue, larger datasets, caching, deployment and mobile-ready UI.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892040"/>
            <a:ext cx="10378440" cy="777240"/>
          </a:xfrm>
          <a:prstGeom prst="roundRect">
            <a:avLst/>
          </a:prstGeom>
          <a:solidFill>
            <a:srgbClr val="3F37C9"/>
          </a:solidFill>
          <a:ln w="12700">
            <a:solidFill>
              <a:srgbClr val="3F3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03834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C7C9FF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965192"/>
            <a:ext cx="81838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ShopOpt makes algorithmic shopping decisions visible, explainable and practical.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5870448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THANK YOU  •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532</Words>
  <Application>Microsoft Office PowerPoint</Application>
  <PresentationFormat>Widescreen</PresentationFormat>
  <Paragraphs>136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2026-10-03T08:42:12Z</dcterms:modified>
  <cp:category/>
</cp:coreProperties>
</file>